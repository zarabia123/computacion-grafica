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Oscco Zarabia Rider Gilmar. Saludo, nombre del grupo y tema 3: laboratorio de geometría con matrices visibles.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Oscco Zarabia Rider Gilmar. Explicar los tres problemas y para quién es el programa.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Oscco Zarabia Rider Gilmar. Objetivo general y lo que ofrece la solución.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Oscco Zarabia Rider Gilmar. Arquitectura por capas y el recorrido del dato al píxel.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Vargas Alhuay Hernan. Explicar por qué la tercera coordenada permite escribir la traslación como matriz, y resolver el ejemplo en la pizarra si el docente lo pide.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Vargas Alhuay Hernan. Composición, pivote y viewport; mostrar la imagen del orden inverso.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Chilingano Lazo Albert. Demostración en vivo en el Lab. 05 siguiendo estos cinco pasos (8 a 12 minutos en total con la exposición).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Chilingano Lazo Albert. Pruebas, rendimiento y errores corregidos.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Oscco Zarabia Rider Gilmar. Actividad RSU prevista, evidencias e indicadores. Actualizar esta diapositiva con los datos reales si la actividad ya se realizó.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Vargas Alhuay Hernan. Conclusiones, aprendizajes y mejoras. Luego, preguntas del docente.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BEAFE"/>
                </a:solidFill>
                <a:latin typeface="Calibri"/>
              </a:rPr>
              <a:t>UNIVERSIDAD NACIONAL JOSÉ MARÍA ARGUEDAS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  <a:latin typeface="Calibri"/>
              </a:rPr>
              <a:t>Computación Gráfica (IIAD65) · 2026-II · Grupo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GeoMatriz </a:t>
            </a:r>
            <a:r>
              <a:rPr sz="6000" b="1" i="0">
                <a:solidFill>
                  <a:srgbClr val="FBBF24"/>
                </a:solidFill>
                <a:latin typeface="Calibri"/>
              </a:rPr>
              <a:t>2D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DBEAFE"/>
                </a:solidFill>
                <a:latin typeface="Calibri"/>
              </a:rPr>
              <a:t>Laboratorio interactivo de geometría 2D con matrices visibles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5669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Oscco Zarabia Rider Gilmar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Vargas Alhuay Hernan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Chilingano Lazo Albert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4068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Calibri"/>
              </a:rPr>
              <a:t>Docente: Mtro. Jhamer Anderson Rojas Silva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Calibri"/>
              </a:rPr>
              <a:t>Andahuaylas, Perú · octubre de 2026</a:t>
            </a:r>
          </a:p>
        </p:txBody>
      </p:sp>
      <p:pic>
        <p:nvPicPr>
          <p:cNvPr id="9" name="Picture 8" descr="01_interfaz_gen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74520"/>
            <a:ext cx="51206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E3A8A"/>
                </a:solidFill>
                <a:latin typeface="Calibri"/>
              </a:rP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B5563"/>
                </a:solidFill>
                <a:latin typeface="Calibri"/>
              </a:rPr>
              <a:t>Las transformaciones geométricas se enseñan en papel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3474720" cy="32918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2194560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E3A8A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E3A8A"/>
                </a:solidFill>
                <a:latin typeface="Calibri"/>
              </a:rPr>
              <a:t>Se ve la fórmula, no el movimiento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El estudiante no relaciona los números de la matriz con lo que le pasa a la figura.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920240"/>
            <a:ext cx="3474720" cy="32918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17719" y="2194560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E3A8A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19" y="288036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E3A8A"/>
                </a:solidFill>
                <a:latin typeface="Calibri"/>
              </a:rPr>
              <a:t>El orden es difícil de comprobar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19" y="3749039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Verificar a mano que T·R ≠ R·T o cómo cambia el área toma mucho tiempo.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920240"/>
            <a:ext cx="3474720" cy="32918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66759" y="2194560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E3A8A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288036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E3A8A"/>
                </a:solidFill>
                <a:latin typeface="Calibri"/>
              </a:rPr>
              <a:t>Faltan herramientas locales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59" y="3749039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No hay una herramienta gratuita, en español y sin internet que muestre figura, matrices y coordenadas a la vez.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11827"/>
                </a:solidFill>
                <a:latin typeface="Calibri"/>
              </a:rPr>
              <a:t>Beneficiario: </a:t>
            </a:r>
            <a:r>
              <a:rPr sz="1600" b="0" i="0">
                <a:solidFill>
                  <a:srgbClr val="111827"/>
                </a:solidFill>
                <a:latin typeface="Calibri"/>
              </a:rPr>
              <a:t>docentes de matemática de Andahuaylas y sus estudiantes.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GeoMatriz 2D · Grupo 3 · Computación Gráfica (IIAD65)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E3A8A"/>
                </a:solidFill>
                <a:latin typeface="Calibri"/>
              </a:rPr>
              <a:t>Objetivo y solución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5120640" cy="1737360"/>
          </a:xfrm>
          <a:prstGeom prst="roundRect">
            <a:avLst>
              <a:gd name="adj" fmla="val 8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4572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Construir figuras 2D y aplicarles traslación, rotación y escalado con matrices homogéneas de 3×3, mostrando a la vez la figura, las matrices y las coordenadas.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2900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800"/>
              </a:spcAft>
              <a:buChar char="•"/>
            </a:pPr>
            <a:r>
              <a:rPr sz="1600" b="1">
                <a:solidFill>
                  <a:srgbClr val="111827"/>
                </a:solidFill>
                <a:latin typeface="Calibri"/>
              </a:rPr>
              <a:t>Dibujo al estilo GeoGebra: </a:t>
            </a:r>
            <a:r>
              <a:rPr sz="1600" b="0">
                <a:solidFill>
                  <a:srgbClr val="111827"/>
                </a:solidFill>
                <a:latin typeface="Calibri"/>
              </a:rPr>
              <a:t>Punto, Segmento, Polígono, Mover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600" b="1">
                <a:solidFill>
                  <a:srgbClr val="111827"/>
                </a:solidFill>
                <a:latin typeface="Calibri"/>
              </a:rPr>
              <a:t>Matrices visibles: </a:t>
            </a:r>
            <a:r>
              <a:rPr sz="1600" b="0">
                <a:solidFill>
                  <a:srgbClr val="111827"/>
                </a:solidFill>
                <a:latin typeface="Calibri"/>
              </a:rPr>
              <a:t>cada Mᵢ, la compuesta M y det(M)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600" b="1">
                <a:solidFill>
                  <a:srgbClr val="111827"/>
                </a:solidFill>
                <a:latin typeface="Calibri"/>
              </a:rPr>
              <a:t>Paso a paso: </a:t>
            </a:r>
            <a:r>
              <a:rPr sz="1600" b="0">
                <a:solidFill>
                  <a:srgbClr val="111827"/>
                </a:solidFill>
                <a:latin typeface="Calibri"/>
              </a:rPr>
              <a:t>el cálculo de cada punto con números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600" b="1">
                <a:solidFill>
                  <a:srgbClr val="111827"/>
                </a:solidFill>
                <a:latin typeface="Calibri"/>
              </a:rPr>
              <a:t>Sin instalación: </a:t>
            </a:r>
            <a:r>
              <a:rPr sz="1600" b="0">
                <a:solidFill>
                  <a:srgbClr val="111827"/>
                </a:solidFill>
                <a:latin typeface="Calibri"/>
              </a:rPr>
              <a:t>doble clic en index.html, sin internet</a:t>
            </a:r>
          </a:p>
        </p:txBody>
      </p:sp>
      <p:pic>
        <p:nvPicPr>
          <p:cNvPr id="6" name="Picture 5" descr="07_result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080913"/>
            <a:ext cx="5623560" cy="3427693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GeoMatriz 2D · Grupo 3 · Computación Gráfica (IIAD65)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E3A8A"/>
                </a:solidFill>
                <a:latin typeface="Calibri"/>
              </a:rPr>
              <a:t>Diseño: arquitectura por capas</a:t>
            </a:r>
          </a:p>
        </p:txBody>
      </p:sp>
      <p:pic>
        <p:nvPicPr>
          <p:cNvPr id="3" name="Picture 2" descr="arquitectura_modu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36816"/>
            <a:ext cx="6766560" cy="46244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73736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800"/>
              </a:spcAft>
              <a:buChar char="•"/>
            </a:pPr>
            <a:r>
              <a:rPr sz="1600" b="1">
                <a:solidFill>
                  <a:srgbClr val="111827"/>
                </a:solidFill>
                <a:latin typeface="Calibri"/>
              </a:rPr>
              <a:t>Lógica sin DOM </a:t>
            </a:r>
            <a:r>
              <a:rPr sz="1600" b="0">
                <a:solidFill>
                  <a:srgbClr val="111827"/>
                </a:solidFill>
                <a:latin typeface="Calibri"/>
              </a:rPr>
              <a:t>(math, scene): se prueba sola con 39 pruebas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600" b="1">
                <a:solidFill>
                  <a:srgbClr val="111827"/>
                </a:solidFill>
                <a:latin typeface="Calibri"/>
              </a:rPr>
              <a:t>Renderizador </a:t>
            </a:r>
            <a:r>
              <a:rPr sz="1600" b="0">
                <a:solidFill>
                  <a:srgbClr val="111827"/>
                </a:solidFill>
                <a:latin typeface="Calibri"/>
              </a:rPr>
              <a:t>solo dibuja en Canvas 2D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600" b="1">
                <a:solidFill>
                  <a:srgbClr val="111827"/>
                </a:solidFill>
                <a:latin typeface="Calibri"/>
              </a:rPr>
              <a:t>Interfaz </a:t>
            </a:r>
            <a:r>
              <a:rPr sz="1600" b="0">
                <a:solidFill>
                  <a:srgbClr val="111827"/>
                </a:solidFill>
                <a:latin typeface="Calibri"/>
              </a:rPr>
              <a:t>conecta controles y estado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600" b="1">
                <a:solidFill>
                  <a:srgbClr val="111827"/>
                </a:solidFill>
                <a:latin typeface="Calibri"/>
              </a:rPr>
              <a:t>Scripts clásicos </a:t>
            </a:r>
            <a:r>
              <a:rPr sz="1600" b="0">
                <a:solidFill>
                  <a:srgbClr val="111827"/>
                </a:solidFill>
                <a:latin typeface="Calibri"/>
              </a:rPr>
              <a:t>en el espacio de nombres Geo: abre con doble clic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600" b="1">
                <a:solidFill>
                  <a:srgbClr val="111827"/>
                </a:solidFill>
                <a:latin typeface="Calibri"/>
              </a:rPr>
              <a:t>Sin bibliotecas: </a:t>
            </a:r>
            <a:r>
              <a:rPr sz="1600" b="0">
                <a:solidFill>
                  <a:srgbClr val="111827"/>
                </a:solidFill>
                <a:latin typeface="Calibri"/>
              </a:rPr>
              <a:t>todas las matrices las programó el grupo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GeoMatriz 2D · Grupo 3 · Computación Gráfica (IIAD65)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E3A8A"/>
                </a:solidFill>
                <a:latin typeface="Calibri"/>
              </a:rPr>
              <a:t>Algoritmos: matrices homogéneas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B5563"/>
                </a:solidFill>
                <a:latin typeface="Calibri"/>
              </a:rPr>
              <a:t>Un punto (x, y) se escribe como P = [x, y, 1]ᵀ; así la traslación también es un producto de matrices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2395727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0" i="0">
                <a:solidFill>
                  <a:srgbClr val="111827"/>
                </a:solidFill>
                <a:latin typeface="Cambria Math"/>
              </a:rPr>
              <a:t>T(tₓ, tᵧ) 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92807" y="2103120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111827"/>
                </a:solidFill>
                <a:latin typeface="Cambria Math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51176" y="2103120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111827"/>
                </a:solidFill>
                <a:latin typeface="Cambria Math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9544" y="2103120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059669"/>
                </a:solidFill>
                <a:latin typeface="Cambria Math"/>
              </a:rPr>
              <a:t>tₓ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2807" y="2432303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111827"/>
                </a:solidFill>
                <a:latin typeface="Cambria Math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1176" y="2432303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111827"/>
                </a:solidFill>
                <a:latin typeface="Cambria Math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9544" y="2432303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059669"/>
                </a:solidFill>
                <a:latin typeface="Cambria Math"/>
              </a:rPr>
              <a:t>tᵧ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7" y="2761487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4B5563"/>
                </a:solidFill>
                <a:latin typeface="Cambria Math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1176" y="2761487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4B5563"/>
                </a:solidFill>
                <a:latin typeface="Cambria Math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9544" y="2761487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4B5563"/>
                </a:solidFill>
                <a:latin typeface="Cambria Math"/>
              </a:rPr>
              <a:t>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2084831"/>
            <a:ext cx="0" cy="105156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83080" y="2084831"/>
            <a:ext cx="82296" cy="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83080" y="3136391"/>
            <a:ext cx="82296" cy="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77639" y="2084831"/>
            <a:ext cx="0" cy="105156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895344" y="2084831"/>
            <a:ext cx="82295" cy="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895344" y="3136391"/>
            <a:ext cx="82295" cy="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977639" y="2395727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0" i="0">
                <a:solidFill>
                  <a:srgbClr val="111827"/>
                </a:solidFill>
                <a:latin typeface="Cambria Math"/>
              </a:rPr>
              <a:t>R(θ) 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2103120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111827"/>
                </a:solidFill>
                <a:latin typeface="Cambria Math"/>
              </a:rPr>
              <a:t>cos 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103120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111827"/>
                </a:solidFill>
                <a:latin typeface="Cambria Math"/>
              </a:rPr>
              <a:t>−sen 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4304" y="2103120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059669"/>
                </a:solidFill>
                <a:latin typeface="Cambria Math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87568" y="2432303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111827"/>
                </a:solidFill>
                <a:latin typeface="Cambria Math"/>
              </a:rPr>
              <a:t>sen 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2432303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111827"/>
                </a:solidFill>
                <a:latin typeface="Cambria Math"/>
              </a:rPr>
              <a:t>cos 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2432303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059669"/>
                </a:solidFill>
                <a:latin typeface="Cambria Math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87568" y="2761487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4B5563"/>
                </a:solidFill>
                <a:latin typeface="Cambria Math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2761487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4B5563"/>
                </a:solidFill>
                <a:latin typeface="Cambria Math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04304" y="2761487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4B5563"/>
                </a:solidFill>
                <a:latin typeface="Cambria Math"/>
              </a:rPr>
              <a:t>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577840" y="2084831"/>
            <a:ext cx="0" cy="105156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7840" y="2084831"/>
            <a:ext cx="82296" cy="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77840" y="3136391"/>
            <a:ext cx="82296" cy="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772400" y="2084831"/>
            <a:ext cx="0" cy="105156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690104" y="2084831"/>
            <a:ext cx="82296" cy="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7690104" y="3136391"/>
            <a:ext cx="82296" cy="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772400" y="2395727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0" i="0">
                <a:solidFill>
                  <a:srgbClr val="111827"/>
                </a:solidFill>
                <a:latin typeface="Cambria Math"/>
              </a:rPr>
              <a:t>S(sₓ, sᵧ) =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82328" y="2103120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111827"/>
                </a:solidFill>
                <a:latin typeface="Cambria Math"/>
              </a:rPr>
              <a:t>sₓ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0696" y="2103120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111827"/>
                </a:solidFill>
                <a:latin typeface="Cambria Math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99063" y="2103120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059669"/>
                </a:solidFill>
                <a:latin typeface="Cambria Math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82328" y="2432303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111827"/>
                </a:solidFill>
                <a:latin typeface="Cambria Math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0696" y="2432303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111827"/>
                </a:solidFill>
                <a:latin typeface="Cambria Math"/>
              </a:rPr>
              <a:t>sᵧ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99063" y="2432303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059669"/>
                </a:solidFill>
                <a:latin typeface="Cambria Math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82328" y="2761487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4B5563"/>
                </a:solidFill>
                <a:latin typeface="Cambria Math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0696" y="2761487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4B5563"/>
                </a:solidFill>
                <a:latin typeface="Cambria Math"/>
              </a:rPr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99063" y="2761487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4B5563"/>
                </a:solidFill>
                <a:latin typeface="Cambria Math"/>
              </a:rPr>
              <a:t>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372600" y="2084831"/>
            <a:ext cx="0" cy="105156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372600" y="2084831"/>
            <a:ext cx="82296" cy="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372600" y="3136391"/>
            <a:ext cx="82296" cy="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567160" y="2084831"/>
            <a:ext cx="0" cy="105156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1484864" y="2084831"/>
            <a:ext cx="82296" cy="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1484864" y="3136391"/>
            <a:ext cx="82296" cy="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548640" y="3931920"/>
            <a:ext cx="11064240" cy="21488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4114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3A8A"/>
                </a:solidFill>
                <a:latin typeface="Calibri"/>
              </a:rPr>
              <a:t>Ejemplo: rotar A = (1, 1) 90° y luego trasladar (2, 1)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" y="461772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  <a:latin typeface="Calibri"/>
              </a:rPr>
              <a:t>R(90°)·A = </a:t>
            </a:r>
            <a:r>
              <a:rPr sz="1700" b="0" i="0">
                <a:solidFill>
                  <a:srgbClr val="111827"/>
                </a:solidFill>
                <a:latin typeface="Cambria Math"/>
              </a:rPr>
              <a:t>(1·0 − 1·1, 1·1 + 1·0) = (−1, 1)</a:t>
            </a:r>
          </a:p>
          <a:p>
            <a:pPr algn="l"/>
            <a:r>
              <a:rPr sz="1700" b="1" i="0">
                <a:solidFill>
                  <a:srgbClr val="111827"/>
                </a:solidFill>
                <a:latin typeface="Calibri"/>
              </a:rPr>
              <a:t>T(2, 1)·(−1, 1) = </a:t>
            </a:r>
            <a:r>
              <a:rPr sz="1700" b="0" i="0">
                <a:solidFill>
                  <a:srgbClr val="111827"/>
                </a:solidFill>
                <a:latin typeface="Cambria Math"/>
              </a:rPr>
              <a:t>(−1 + 2, 1 + 1) = (1, 2)</a:t>
            </a:r>
            <a:r>
              <a:rPr sz="1700" b="1" i="0">
                <a:solidFill>
                  <a:srgbClr val="059669"/>
                </a:solidFill>
                <a:latin typeface="Calibri"/>
              </a:rPr>
              <a:t>   → A′ = (1, 2) ✓ coincide con el programa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GeoMatriz 2D · Grupo 3 · Computación Gráfica (IIAD65)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E3A8A"/>
                </a:solidFill>
                <a:latin typeface="Calibri"/>
              </a:rPr>
              <a:t>Composición, pivote y viewport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E3A8A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371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E3A8A"/>
                </a:solidFill>
                <a:latin typeface="Calibri"/>
              </a:rPr>
              <a:t>Composición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82880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11827"/>
                </a:solidFill>
                <a:latin typeface="Cambria Math"/>
              </a:rPr>
              <a:t>M = Mₙ · … · M₂ · M₁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286000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La primera transformación aplicada queda a la derecha. Como el producto no es conmutativo, el orden importa.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E3A8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9718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E3A8A"/>
                </a:solidFill>
                <a:latin typeface="Calibri"/>
              </a:rPr>
              <a:t>Pivote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2900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11827"/>
                </a:solidFill>
                <a:latin typeface="Cambria Math"/>
              </a:rPr>
              <a:t>Rₚ(θ) = T(p) · R(θ) · T(−p)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886200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Llevar el pivote al origen, girar o escalar, y regresar. El pivote puede ser el origen, el centroide o un punto.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663440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E3A8A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5720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E3A8A"/>
                </a:solidFill>
                <a:latin typeface="Calibri"/>
              </a:rPr>
              <a:t>Viewport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02920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11827"/>
                </a:solidFill>
                <a:latin typeface="Cambria Math"/>
              </a:rPr>
              <a:t>[u, v, 1]ᵀ = V · P′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486400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V = [[k, 0, cᵤ], [0, −k, cᵥ], [0, 0, 1]]: zoom k y −k para invertir el eje Y de la pantalla.</a:t>
            </a:r>
          </a:p>
        </p:txBody>
      </p:sp>
      <p:pic>
        <p:nvPicPr>
          <p:cNvPr id="15" name="Picture 14" descr="08_pasos_y_orden_inver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7015"/>
            <a:ext cx="4937760" cy="3101008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6675120" y="480060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  <a:latin typeface="Calibri"/>
              </a:rPr>
              <a:t>T·R ≠ R·T: </a:t>
            </a:r>
            <a:r>
              <a:rPr sz="1400" b="0" i="0">
                <a:solidFill>
                  <a:srgbClr val="111827"/>
                </a:solidFill>
                <a:latin typeface="Calibri"/>
              </a:rPr>
              <a:t>con P = (1, 0), rotar 90° y trasladar (2, 0) da (2, 1); en el orden inverso da (0, 3). En morado, el resultado con el orden inverso.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GeoMatriz 2D · Grupo 3 · Computación Gráfica (IIAD65)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E3A8A"/>
                </a:solidFill>
                <a:latin typeface="Calibri"/>
              </a:rPr>
              <a:t>Demostración en vivo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E3A8A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490472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Calibri"/>
              </a:rPr>
              <a:t>Dibujar un triángulo con la herramienta Polígono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350008"/>
            <a:ext cx="548640" cy="5486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E3A8A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42316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Calibri"/>
              </a:rPr>
              <a:t>Agregar Rotación 90° y Traslación (2, 1)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82696"/>
            <a:ext cx="548640" cy="5486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E3A8A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355848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Calibri"/>
              </a:rPr>
              <a:t>Leer M = M₂·M₁, det(M) y el paso a paso de A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215384"/>
            <a:ext cx="548640" cy="5486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E3A8A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88536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Calibri"/>
              </a:rPr>
              <a:t>Cambiar el orden con ↑ y comparar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5148072"/>
            <a:ext cx="548640" cy="5486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E3A8A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221224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Calibri"/>
              </a:rPr>
              <a:t>Exportar el informe en PDF</a:t>
            </a:r>
          </a:p>
        </p:txBody>
      </p:sp>
      <p:pic>
        <p:nvPicPr>
          <p:cNvPr id="13" name="Picture 12" descr="01_interfaz_gen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854517"/>
            <a:ext cx="5623560" cy="3514725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GeoMatriz 2D · Grupo 3 · Computación Gráfica (IIAD65)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E3A8A"/>
                </a:solidFill>
                <a:latin typeface="Calibri"/>
              </a:rPr>
              <a:t>Resultados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60020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059669"/>
                </a:solidFill>
                <a:latin typeface="Calibri"/>
              </a:rPr>
              <a:t>39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60604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pruebas automáticas aprobadas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79" y="141732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1999" y="160020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2563EB"/>
                </a:solidFill>
                <a:latin typeface="Calibri"/>
              </a:rPr>
              <a:t>2,4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1999" y="260604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por dibujo con 100 vértices (≥ 415 cuadros/s)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41732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60020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7C3AED"/>
                </a:solidFill>
                <a:latin typeface="Calibri"/>
              </a:rPr>
              <a:t>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60604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pruebas manuales de interfaz registradas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94760"/>
            <a:ext cx="56692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800"/>
              </a:spcAft>
              <a:buChar char="•"/>
            </a:pPr>
            <a:r>
              <a:rPr sz="1500" b="0">
                <a:solidFill>
                  <a:srgbClr val="111827"/>
                </a:solidFill>
                <a:latin typeface="Calibri"/>
              </a:rPr>
              <a:t>Resultados esperados calculados a mano antes de programar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500" b="0">
                <a:solidFill>
                  <a:srgbClr val="111827"/>
                </a:solidFill>
                <a:latin typeface="Calibri"/>
              </a:rPr>
              <a:t>Funciona en computadora, tableta y celular sin desplazamiento horizontal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500" b="0">
                <a:solidFill>
                  <a:srgbClr val="111827"/>
                </a:solidFill>
                <a:latin typeface="Calibri"/>
              </a:rPr>
              <a:t>Errores encontrados y corregidos: desfase de 1 px, plano sobre los resultados, menú Exportar, etiqueta del pivote</a:t>
            </a:r>
          </a:p>
        </p:txBody>
      </p:sp>
      <p:pic>
        <p:nvPicPr>
          <p:cNvPr id="13" name="Picture 12" descr="13_cel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113" y="3611880"/>
            <a:ext cx="1204212" cy="2606040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pic>
        <p:nvPicPr>
          <p:cNvPr id="14" name="Picture 13" descr="09_error_valid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3914775"/>
            <a:ext cx="3200400" cy="2000250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GeoMatriz 2D · Grupo 3 · Computación Gráfica (IIAD65)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E3A8A"/>
                </a:solidFill>
                <a:latin typeface="Calibri"/>
              </a:rPr>
              <a:t>Responsabilidad Social Universitaria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5440680" cy="1874519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59" y="1691640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E3A8A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6916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E3A8A"/>
                </a:solidFill>
                <a:latin typeface="Calibri"/>
              </a:rPr>
              <a:t>Beneficiario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194560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Docentes de matemática de una institución educativa de Andahuaylas (por confirmar).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440680" cy="1874519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E3A8A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6916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E3A8A"/>
                </a:solidFill>
                <a:latin typeface="Calibri"/>
              </a:rPr>
              <a:t>Actividad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194560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Demostración y taller de 45 minutos; entrega del programa y del manual de usuario.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20439"/>
            <a:ext cx="5440680" cy="1874519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3794759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E3A8A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794759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E3A8A"/>
                </a:solidFill>
                <a:latin typeface="Calibri"/>
              </a:rPr>
              <a:t>Evidencias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297679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Ficha de la actividad, lista de asistentes, fotos con consentimiento y constancia.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520439"/>
            <a:ext cx="5440680" cy="1874519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3794759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E3A8A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794759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E3A8A"/>
                </a:solidFill>
                <a:latin typeface="Calibri"/>
              </a:rPr>
              <a:t>Indicadores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4297679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Docentes participantes, % que aplica una composición y valoración en la encuesta.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4B5563"/>
                </a:solidFill>
                <a:latin typeface="Calibri"/>
              </a:rPr>
              <a:t>Estado: </a:t>
            </a:r>
            <a:r>
              <a:rPr sz="1400" b="0" i="0">
                <a:solidFill>
                  <a:srgbClr val="4B5563"/>
                </a:solidFill>
                <a:latin typeface="Calibri"/>
              </a:rPr>
              <a:t>actividad programada; las evidencias se registrarán cuando se realice. El programa no recoge datos personales y las fotos solo se usarán con consentimiento.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GeoMatriz 2D · Grupo 3 · Computación Gráfica (IIAD65)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Conclusiones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E3A8A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536192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Se cumplió el objetivo: figura, matrices y coordenadas a la vez, sin instalación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60320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E3A8A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33472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Un solo concepto, el producto de matrices 3×3, sostiene todo el pipeline, incluido el viewport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E3A8A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30752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Las pruebas con resultados calculados a mano detectaron errores que no se veían a simple vista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8000"/>
            </a:avLst>
          </a:prstGeom>
          <a:solidFill>
            <a:srgbClr val="2A4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07492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BBF24"/>
                </a:solidFill>
                <a:latin typeface="Calibri"/>
              </a:rPr>
              <a:t>Trabajo futuro: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recorte de polígonos (Sutherland–Hodgman), varias figuras a la vez, guardar escenas y animar la transformación.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BEAFE"/>
                </a:solidFill>
                <a:latin typeface="Calibri"/>
              </a:rPr>
              <a:t>GeoMatriz 2D · Grupo 3 · Computación Gráfica (IIAD65)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DBEAF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